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1" r:id="rId3"/>
    <p:sldId id="256" r:id="rId4"/>
    <p:sldId id="260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5"/>
        <p:guide pos="37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尾气循环系统</a:t>
            </a:r>
            <a:r>
              <a:rPr lang="zh-CN" altLang="en-US"/>
              <a:t>模型改进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）考虑实际膜加湿器的效果，加湿的水来自电堆阴极尾气。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）阴极尾气经过加湿器后失水、降温，同时伴随一定量水的液化。实验数据分析湿侧失去的水仅有约56%穿过膜到达干侧，其余44%在湿侧以液态形式凝结，可能被膜吸收储存或被排出。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失水降温后的阴极尾气将进行</a:t>
            </a:r>
            <a:r>
              <a:rPr lang="en-US" altLang="zh-CN"/>
              <a:t>‘</a:t>
            </a:r>
            <a:r>
              <a:rPr lang="zh-CN" altLang="en-US"/>
              <a:t>尾气循环</a:t>
            </a:r>
            <a:r>
              <a:rPr lang="en-US" altLang="zh-CN"/>
              <a:t>’</a:t>
            </a:r>
            <a:r>
              <a:rPr lang="zh-CN" altLang="en-US"/>
              <a:t>，基于加湿器湿侧出口气体质量流量，设定改循环比为</a:t>
            </a:r>
            <a:r>
              <a:rPr lang="en-US" altLang="zh-CN"/>
              <a:t>1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）循环气体与空压机气体混合，一同进入加湿器的干侧被加湿。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依旧规定进入电堆的阴极</a:t>
            </a:r>
            <a:r>
              <a:rPr lang="zh-CN" altLang="en-US"/>
              <a:t>气体质量流量</a:t>
            </a:r>
            <a:r>
              <a:rPr lang="zh-CN" altLang="en-US"/>
              <a:t>一定。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）湿侧失水和干侧得水的具体值需要进一步分析实验数据，建立</a:t>
            </a:r>
            <a:r>
              <a:rPr lang="zh-CN" altLang="en-US"/>
              <a:t>经验函数。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尾气循环系统只考虑加湿器湿侧</a:t>
            </a:r>
            <a:r>
              <a:rPr lang="zh-CN" altLang="en-US">
                <a:sym typeface="+mn-ea"/>
              </a:rPr>
              <a:t>发生的水的液化，其余过程遵循气相质量</a:t>
            </a:r>
            <a:r>
              <a:rPr lang="zh-CN" altLang="en-US">
                <a:sym typeface="+mn-ea"/>
              </a:rPr>
              <a:t>守恒。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1746250" y="1281570"/>
            <a:ext cx="9048847" cy="4162003"/>
            <a:chOff x="2750" y="2188"/>
            <a:chExt cx="12357" cy="4725"/>
          </a:xfrm>
        </p:grpSpPr>
        <p:sp>
          <p:nvSpPr>
            <p:cNvPr id="6" name="椭圆 5"/>
            <p:cNvSpPr/>
            <p:nvPr/>
          </p:nvSpPr>
          <p:spPr>
            <a:xfrm>
              <a:off x="2750" y="4431"/>
              <a:ext cx="1634" cy="1505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>
              <a:stCxn id="6" idx="6"/>
            </p:cNvCxnSpPr>
            <p:nvPr/>
          </p:nvCxnSpPr>
          <p:spPr>
            <a:xfrm flipV="1">
              <a:off x="4384" y="5155"/>
              <a:ext cx="302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4007" y="4517"/>
              <a:ext cx="887" cy="1419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19" y="6076"/>
              <a:ext cx="1807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空压机出口</a:t>
              </a:r>
              <a:endParaRPr lang="zh-CN" altLang="en-US" sz="1400"/>
            </a:p>
            <a:p>
              <a:pPr algn="ctr"/>
              <a:r>
                <a:rPr lang="zh-CN" altLang="en-US" sz="1400"/>
                <a:t>干空气</a:t>
              </a:r>
              <a:endParaRPr lang="zh-CN" altLang="en-US" sz="14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>
              <a:off x="5716" y="3751"/>
              <a:ext cx="10" cy="14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5272" y="4517"/>
              <a:ext cx="887" cy="1419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26" y="6076"/>
              <a:ext cx="1974" cy="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交汇点</a:t>
              </a:r>
              <a:r>
                <a:rPr lang="en-US" altLang="zh-CN" sz="1400"/>
                <a:t>=</a:t>
              </a:r>
              <a:r>
                <a:rPr lang="zh-CN" altLang="en-US" sz="1400"/>
                <a:t>加湿器干侧</a:t>
              </a:r>
              <a:r>
                <a:rPr lang="zh-CN" altLang="en-US" sz="1400"/>
                <a:t>入口</a:t>
              </a:r>
              <a:endParaRPr lang="zh-CN" altLang="en-US" sz="1400"/>
            </a:p>
            <a:p>
              <a:pPr algn="ctr"/>
              <a:endParaRPr lang="zh-CN" altLang="en-US" sz="14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748" y="5299"/>
              <a:ext cx="2652" cy="6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干侧</a:t>
              </a: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748" y="5154"/>
              <a:ext cx="2652" cy="145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>
              <a:off x="7400" y="5155"/>
              <a:ext cx="11" cy="4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7431" y="5633"/>
              <a:ext cx="618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7748" y="4518"/>
              <a:ext cx="2652" cy="6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湿侧</a:t>
              </a:r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0911" y="5299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778" y="6139"/>
              <a:ext cx="1885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加湿器干侧出口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电堆</a:t>
              </a:r>
              <a:r>
                <a:rPr lang="zh-CN" altLang="en-US" sz="1400">
                  <a:sym typeface="+mn-ea"/>
                </a:rPr>
                <a:t>入口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565" y="4044"/>
              <a:ext cx="3059" cy="2095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954" y="6245"/>
              <a:ext cx="1885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加湿器的</a:t>
              </a:r>
              <a:r>
                <a:rPr lang="zh-CN" altLang="en-US" sz="1400">
                  <a:sym typeface="+mn-ea"/>
                </a:rPr>
                <a:t>水热交换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3636" y="3352"/>
              <a:ext cx="1328" cy="303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H="1" flipV="1">
              <a:off x="10130" y="3715"/>
              <a:ext cx="3486" cy="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3199" y="3407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78" y="2362"/>
              <a:ext cx="2929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电堆出口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加湿器湿侧</a:t>
              </a:r>
              <a:r>
                <a:rPr lang="zh-CN" altLang="en-US" sz="1400">
                  <a:sym typeface="+mn-ea"/>
                </a:rPr>
                <a:t>入口</a:t>
              </a:r>
              <a:endParaRPr lang="zh-CN" altLang="en-US" sz="1400">
                <a:sym typeface="+mn-ea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10118" y="3675"/>
              <a:ext cx="0" cy="8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8586" y="3721"/>
              <a:ext cx="0" cy="80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 flipV="1">
              <a:off x="3974" y="3727"/>
              <a:ext cx="4612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7400" y="2823"/>
              <a:ext cx="2058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加湿器湿侧出口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降温尾气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272" y="3376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890" y="2188"/>
              <a:ext cx="1572" cy="8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降温尾气与循环尾气、排空</a:t>
              </a:r>
              <a:r>
                <a:rPr lang="zh-CN" altLang="en-US" sz="1400">
                  <a:sym typeface="+mn-ea"/>
                </a:rPr>
                <a:t>尾气</a:t>
              </a:r>
              <a:endParaRPr lang="zh-CN" altLang="en-US" sz="1400"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877695" y="5352415"/>
            <a:ext cx="76517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</a:t>
            </a:r>
            <a:r>
              <a:rPr lang="en-US" altLang="zh-CN"/>
              <a:t>cp</a:t>
            </a:r>
            <a:endParaRPr lang="en-US" altLang="zh-CN"/>
          </a:p>
          <a:p>
            <a:r>
              <a:rPr lang="en-US" altLang="zh-CN"/>
              <a:t>Ycp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3617595" y="5352415"/>
            <a:ext cx="125158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Wdry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in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_in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7436485" y="5340985"/>
            <a:ext cx="201041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Wdry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out=Win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_out=Yin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9730105" y="530225"/>
            <a:ext cx="199707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Wwet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in=Wout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_in</a:t>
            </a:r>
            <a:r>
              <a:rPr lang="en-US" altLang="zh-CN">
                <a:sym typeface="+mn-ea"/>
              </a:rPr>
              <a:t>=Yout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5173980" y="1154430"/>
            <a:ext cx="138112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Wwet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_out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604520" y="1281430"/>
            <a:ext cx="2708910" cy="645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US" altLang="zh-CN"/>
              <a:t>Wcyc+Wlose=Wwet_out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cyc=</a:t>
            </a:r>
            <a:r>
              <a:rPr lang="en-US" altLang="zh-CN">
                <a:sym typeface="+mn-ea"/>
              </a:rPr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</a:t>
            </a:r>
            <a:r>
              <a:rPr lang="en-US" altLang="zh-CN">
                <a:sym typeface="+mn-ea"/>
              </a:rPr>
              <a:t>out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9851390" y="5154295"/>
            <a:ext cx="212090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Win=Win0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=lam_c*WO2react</a:t>
            </a:r>
            <a:endParaRPr lang="en-US" altLang="zh-CN"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86605" y="6229985"/>
            <a:ext cx="378523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Wdry</a:t>
            </a:r>
            <a:r>
              <a:rPr lang="en-US" altLang="zh-CN">
                <a:sym typeface="+mn-ea"/>
              </a:rPr>
              <a:t>_out=Wdry</a:t>
            </a:r>
            <a:r>
              <a:rPr lang="en-US" altLang="zh-CN">
                <a:sym typeface="+mn-ea"/>
              </a:rPr>
              <a:t>_in+deltaW_hum</a:t>
            </a:r>
            <a:endParaRPr lang="en-US" altLang="zh-CN"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19800" y="201295"/>
            <a:ext cx="33420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Wwetout=Wwetin-deltaW_hum</a:t>
            </a:r>
            <a:endParaRPr lang="en-US" altLang="zh-CN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49250" y="161925"/>
            <a:ext cx="249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物质流</a:t>
            </a:r>
            <a:r>
              <a:rPr lang="en-US" altLang="zh-CN"/>
              <a:t>——</a:t>
            </a:r>
            <a:endParaRPr lang="zh-CN" altLang="en-US"/>
          </a:p>
          <a:p>
            <a:r>
              <a:rPr lang="zh-CN" altLang="en-US"/>
              <a:t>无相变气</a:t>
            </a:r>
            <a:r>
              <a:rPr lang="zh-CN" altLang="en-US"/>
              <a:t>相质量</a:t>
            </a:r>
            <a:r>
              <a:rPr lang="zh-CN" altLang="en-US"/>
              <a:t>守恒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1746250" y="1281570"/>
            <a:ext cx="9048847" cy="4162003"/>
            <a:chOff x="2750" y="2188"/>
            <a:chExt cx="12357" cy="4725"/>
          </a:xfrm>
        </p:grpSpPr>
        <p:sp>
          <p:nvSpPr>
            <p:cNvPr id="6" name="椭圆 5"/>
            <p:cNvSpPr/>
            <p:nvPr/>
          </p:nvSpPr>
          <p:spPr>
            <a:xfrm>
              <a:off x="2750" y="4431"/>
              <a:ext cx="1634" cy="1505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>
              <a:stCxn id="6" idx="6"/>
            </p:cNvCxnSpPr>
            <p:nvPr/>
          </p:nvCxnSpPr>
          <p:spPr>
            <a:xfrm flipV="1">
              <a:off x="4384" y="5155"/>
              <a:ext cx="302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4007" y="4517"/>
              <a:ext cx="887" cy="1419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19" y="6076"/>
              <a:ext cx="1807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空压机出口</a:t>
              </a:r>
              <a:endParaRPr lang="zh-CN" altLang="en-US" sz="1400"/>
            </a:p>
            <a:p>
              <a:pPr algn="ctr"/>
              <a:r>
                <a:rPr lang="zh-CN" altLang="en-US" sz="1400"/>
                <a:t>干空气</a:t>
              </a:r>
              <a:endParaRPr lang="zh-CN" altLang="en-US" sz="14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>
              <a:off x="5716" y="3751"/>
              <a:ext cx="10" cy="14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5272" y="4517"/>
              <a:ext cx="887" cy="1419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26" y="6076"/>
              <a:ext cx="1974" cy="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交汇点</a:t>
              </a:r>
              <a:r>
                <a:rPr lang="en-US" altLang="zh-CN" sz="1400"/>
                <a:t>=</a:t>
              </a:r>
              <a:r>
                <a:rPr lang="zh-CN" altLang="en-US" sz="1400"/>
                <a:t>加湿器干侧</a:t>
              </a:r>
              <a:r>
                <a:rPr lang="zh-CN" altLang="en-US" sz="1400"/>
                <a:t>入口</a:t>
              </a:r>
              <a:endParaRPr lang="zh-CN" altLang="en-US" sz="1400"/>
            </a:p>
            <a:p>
              <a:pPr algn="ctr"/>
              <a:endParaRPr lang="zh-CN" altLang="en-US" sz="14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748" y="5299"/>
              <a:ext cx="2652" cy="6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748" y="5154"/>
              <a:ext cx="2652" cy="145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>
              <a:off x="7400" y="5155"/>
              <a:ext cx="11" cy="4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7431" y="5633"/>
              <a:ext cx="618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7748" y="4518"/>
              <a:ext cx="2652" cy="63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0911" y="5299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778" y="6139"/>
              <a:ext cx="1885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加湿器干侧出口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电堆</a:t>
              </a:r>
              <a:r>
                <a:rPr lang="zh-CN" altLang="en-US" sz="1400">
                  <a:sym typeface="+mn-ea"/>
                </a:rPr>
                <a:t>入口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565" y="4044"/>
              <a:ext cx="3059" cy="2095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954" y="6245"/>
              <a:ext cx="1885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加湿器的</a:t>
              </a:r>
              <a:r>
                <a:rPr lang="zh-CN" altLang="en-US" sz="1400">
                  <a:sym typeface="+mn-ea"/>
                </a:rPr>
                <a:t>水热交换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3636" y="3352"/>
              <a:ext cx="1328" cy="303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H="1" flipV="1">
              <a:off x="10130" y="3715"/>
              <a:ext cx="3486" cy="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3199" y="3407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78" y="2362"/>
              <a:ext cx="2929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电堆出口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加湿器湿侧</a:t>
              </a:r>
              <a:r>
                <a:rPr lang="zh-CN" altLang="en-US" sz="1400">
                  <a:sym typeface="+mn-ea"/>
                </a:rPr>
                <a:t>入口</a:t>
              </a:r>
              <a:endParaRPr lang="zh-CN" altLang="en-US" sz="1400">
                <a:sym typeface="+mn-ea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10118" y="3675"/>
              <a:ext cx="0" cy="8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8586" y="3721"/>
              <a:ext cx="0" cy="808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 flipV="1">
              <a:off x="3974" y="3727"/>
              <a:ext cx="4612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7400" y="2823"/>
              <a:ext cx="2058" cy="5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加湿器湿侧出口</a:t>
              </a:r>
              <a:r>
                <a:rPr lang="en-US" altLang="zh-CN" sz="1400">
                  <a:sym typeface="+mn-ea"/>
                </a:rPr>
                <a:t>=</a:t>
              </a:r>
              <a:r>
                <a:rPr lang="zh-CN" altLang="en-US" sz="1400">
                  <a:sym typeface="+mn-ea"/>
                </a:rPr>
                <a:t>降温尾气</a:t>
              </a:r>
              <a:endParaRPr lang="zh-CN" altLang="en-US" sz="1400"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272" y="3376"/>
              <a:ext cx="887" cy="637"/>
            </a:xfrm>
            <a:prstGeom prst="rect">
              <a:avLst/>
            </a:prstGeom>
            <a:ln w="28575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890" y="2188"/>
              <a:ext cx="1572" cy="8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400">
                  <a:sym typeface="+mn-ea"/>
                </a:rPr>
                <a:t>降温尾气与循环尾气、排空</a:t>
              </a:r>
              <a:r>
                <a:rPr lang="zh-CN" altLang="en-US" sz="1400">
                  <a:sym typeface="+mn-ea"/>
                </a:rPr>
                <a:t>尾气</a:t>
              </a:r>
              <a:endParaRPr lang="zh-CN" altLang="en-US" sz="1400"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877695" y="5352415"/>
            <a:ext cx="76517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</a:t>
            </a:r>
            <a:r>
              <a:rPr lang="en-US" altLang="zh-CN"/>
              <a:t>cp</a:t>
            </a:r>
            <a:endParaRPr lang="en-US" altLang="zh-CN"/>
          </a:p>
          <a:p>
            <a:r>
              <a:rPr lang="en-US" altLang="zh-CN"/>
              <a:t>Ycp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3617595" y="5352415"/>
            <a:ext cx="125158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Wdry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in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_in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7436485" y="5340985"/>
            <a:ext cx="201041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Wdry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out=Win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_out=Yin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9730105" y="530225"/>
            <a:ext cx="199707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Wwet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in=Wout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_in</a:t>
            </a:r>
            <a:r>
              <a:rPr lang="en-US" altLang="zh-CN">
                <a:sym typeface="+mn-ea"/>
              </a:rPr>
              <a:t>=Yout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5173980" y="1154430"/>
            <a:ext cx="138112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Wwet</a:t>
            </a:r>
            <a:r>
              <a:rPr lang="en-US" altLang="zh-CN">
                <a:sym typeface="+mn-ea"/>
              </a:rPr>
              <a:t>_</a:t>
            </a:r>
            <a:r>
              <a:rPr lang="en-US" altLang="zh-CN"/>
              <a:t>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_out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604520" y="1281430"/>
            <a:ext cx="2708910" cy="645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US" altLang="zh-CN"/>
              <a:t>Wcyc+Wlose=Wwet_out</a:t>
            </a:r>
            <a:endParaRPr lang="en-US" altLang="zh-CN"/>
          </a:p>
          <a:p>
            <a:r>
              <a:rPr lang="en-US" altLang="zh-CN"/>
              <a:t>Y</a:t>
            </a:r>
            <a:r>
              <a:rPr lang="en-US" altLang="zh-CN">
                <a:sym typeface="+mn-ea"/>
              </a:rPr>
              <a:t>cyc=</a:t>
            </a:r>
            <a:r>
              <a:rPr lang="en-US" altLang="zh-CN">
                <a:sym typeface="+mn-ea"/>
              </a:rPr>
              <a:t>Y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</a:t>
            </a:r>
            <a:r>
              <a:rPr lang="en-US" altLang="zh-CN">
                <a:sym typeface="+mn-ea"/>
              </a:rPr>
              <a:t>out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9851390" y="5154295"/>
            <a:ext cx="212090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Win=Win0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=lam_c*WO2react</a:t>
            </a:r>
            <a:endParaRPr lang="en-US" altLang="zh-CN"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86605" y="6229985"/>
            <a:ext cx="378523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Wdry_out=Wdry_in+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ΔW_H2O_dry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557520" y="201295"/>
            <a:ext cx="417258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Wwetout=Wwetin-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ΔW_H2O_wet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49250" y="161925"/>
            <a:ext cx="2966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物质流</a:t>
            </a:r>
            <a:r>
              <a:rPr lang="en-US" altLang="zh-CN"/>
              <a:t>——</a:t>
            </a:r>
            <a:endParaRPr lang="zh-CN" altLang="en-US"/>
          </a:p>
          <a:p>
            <a:r>
              <a:rPr lang="zh-CN" altLang="en-US"/>
              <a:t>仅考虑加湿器水蒸气</a:t>
            </a:r>
            <a:r>
              <a:rPr lang="zh-CN" altLang="en-US"/>
              <a:t>液化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（选择这个建模）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349250" y="161925"/>
            <a:ext cx="50577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温度流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不建热模型，仅作气体是否发生液化参考，规定电堆入口温度</a:t>
            </a:r>
            <a:r>
              <a:rPr lang="zh-CN" altLang="en-US">
                <a:solidFill>
                  <a:srgbClr val="FF0000"/>
                </a:solidFill>
              </a:rPr>
              <a:t>一定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77415" y="5234940"/>
            <a:ext cx="76517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Tcp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285105" y="5300345"/>
            <a:ext cx="73469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_in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150735" y="5300345"/>
            <a:ext cx="201041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r>
              <a:rPr lang="en-US" altLang="zh-CN">
                <a:sym typeface="+mn-ea"/>
              </a:rPr>
              <a:t>dry</a:t>
            </a:r>
            <a:r>
              <a:rPr lang="en-US" altLang="zh-CN">
                <a:sym typeface="+mn-ea"/>
              </a:rPr>
              <a:t>_out=Tin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693150" y="995680"/>
            <a:ext cx="199707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_in</a:t>
            </a:r>
            <a:r>
              <a:rPr lang="en-US" altLang="zh-CN">
                <a:sym typeface="+mn-ea"/>
              </a:rPr>
              <a:t>=Tout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4845685" y="1198880"/>
            <a:ext cx="138112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_out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1021080" y="1358900"/>
            <a:ext cx="2136775" cy="3683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US" altLang="zh-CN"/>
              <a:t>T</a:t>
            </a:r>
            <a:r>
              <a:rPr lang="en-US" altLang="zh-CN">
                <a:sym typeface="+mn-ea"/>
              </a:rPr>
              <a:t>cyc=</a:t>
            </a:r>
            <a:r>
              <a:rPr lang="en-US" altLang="zh-CN">
                <a:sym typeface="+mn-ea"/>
              </a:rPr>
              <a:t>T</a:t>
            </a:r>
            <a:r>
              <a:rPr lang="en-US" altLang="zh-CN">
                <a:sym typeface="+mn-ea"/>
              </a:rPr>
              <a:t>wet</a:t>
            </a:r>
            <a:r>
              <a:rPr lang="en-US" altLang="zh-CN">
                <a:sym typeface="+mn-ea"/>
              </a:rPr>
              <a:t>_</a:t>
            </a:r>
            <a:r>
              <a:rPr lang="en-US" altLang="zh-CN">
                <a:sym typeface="+mn-ea"/>
              </a:rPr>
              <a:t>out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6457950" y="502285"/>
            <a:ext cx="19138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deltaT_hum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762625" y="6231890"/>
            <a:ext cx="19138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deltaT_hum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88995" y="5228590"/>
            <a:ext cx="76517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Tmix</a:t>
            </a:r>
            <a:endParaRPr lang="en-US" altLang="zh-CN"/>
          </a:p>
        </p:txBody>
      </p:sp>
      <p:grpSp>
        <p:nvGrpSpPr>
          <p:cNvPr id="54" name="组合 53"/>
          <p:cNvGrpSpPr/>
          <p:nvPr/>
        </p:nvGrpSpPr>
        <p:grpSpPr>
          <a:xfrm>
            <a:off x="1746250" y="1281430"/>
            <a:ext cx="9048750" cy="4105910"/>
            <a:chOff x="2750" y="2018"/>
            <a:chExt cx="14250" cy="6466"/>
          </a:xfrm>
        </p:grpSpPr>
        <p:grpSp>
          <p:nvGrpSpPr>
            <p:cNvPr id="52" name="组合 51"/>
            <p:cNvGrpSpPr/>
            <p:nvPr/>
          </p:nvGrpSpPr>
          <p:grpSpPr>
            <a:xfrm>
              <a:off x="2750" y="2018"/>
              <a:ext cx="14250" cy="6466"/>
              <a:chOff x="2750" y="2018"/>
              <a:chExt cx="14250" cy="6466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2750" y="2018"/>
                <a:ext cx="14250" cy="6466"/>
                <a:chOff x="2750" y="2018"/>
                <a:chExt cx="14250" cy="6466"/>
              </a:xfrm>
            </p:grpSpPr>
            <p:grpSp>
              <p:nvGrpSpPr>
                <p:cNvPr id="32" name="组合 31"/>
                <p:cNvGrpSpPr/>
                <p:nvPr/>
              </p:nvGrpSpPr>
              <p:grpSpPr>
                <a:xfrm>
                  <a:off x="2750" y="2018"/>
                  <a:ext cx="14250" cy="6467"/>
                  <a:chOff x="2750" y="2188"/>
                  <a:chExt cx="12357" cy="4662"/>
                </a:xfrm>
              </p:grpSpPr>
              <p:sp>
                <p:nvSpPr>
                  <p:cNvPr id="6" name="椭圆 5"/>
                  <p:cNvSpPr/>
                  <p:nvPr/>
                </p:nvSpPr>
                <p:spPr>
                  <a:xfrm>
                    <a:off x="2750" y="4431"/>
                    <a:ext cx="1634" cy="1505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" name="直接箭头连接符 6"/>
                  <p:cNvCxnSpPr>
                    <a:stCxn id="6" idx="6"/>
                  </p:cNvCxnSpPr>
                  <p:nvPr/>
                </p:nvCxnSpPr>
                <p:spPr>
                  <a:xfrm flipV="1">
                    <a:off x="4384" y="5155"/>
                    <a:ext cx="3028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" name="矩形 7"/>
                  <p:cNvSpPr/>
                  <p:nvPr/>
                </p:nvSpPr>
                <p:spPr>
                  <a:xfrm>
                    <a:off x="4007" y="4517"/>
                    <a:ext cx="887" cy="1419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文本框 8"/>
                  <p:cNvSpPr txBox="1"/>
                  <p:nvPr/>
                </p:nvSpPr>
                <p:spPr>
                  <a:xfrm>
                    <a:off x="3419" y="6076"/>
                    <a:ext cx="1807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zh-CN" altLang="en-US" sz="1400"/>
                      <a:t>空压机出口</a:t>
                    </a:r>
                    <a:endParaRPr lang="zh-CN" altLang="en-US" sz="1400"/>
                  </a:p>
                  <a:p>
                    <a:pPr algn="ctr"/>
                    <a:r>
                      <a:rPr lang="zh-CN" altLang="en-US" sz="1400"/>
                      <a:t>干空气</a:t>
                    </a:r>
                    <a:endParaRPr lang="zh-CN" altLang="en-US" sz="1400"/>
                  </a:p>
                </p:txBody>
              </p:sp>
              <p:cxnSp>
                <p:nvCxnSpPr>
                  <p:cNvPr id="10" name="直接箭头连接符 9"/>
                  <p:cNvCxnSpPr/>
                  <p:nvPr/>
                </p:nvCxnSpPr>
                <p:spPr>
                  <a:xfrm flipH="1">
                    <a:off x="5716" y="3751"/>
                    <a:ext cx="10" cy="1433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矩形 10"/>
                  <p:cNvSpPr/>
                  <p:nvPr/>
                </p:nvSpPr>
                <p:spPr>
                  <a:xfrm>
                    <a:off x="5272" y="4517"/>
                    <a:ext cx="887" cy="1419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4678" y="6032"/>
                    <a:ext cx="1974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zh-CN" altLang="en-US" sz="1400"/>
                      <a:t>交汇点</a:t>
                    </a:r>
                    <a:endParaRPr lang="zh-CN" altLang="en-US" sz="1400"/>
                  </a:p>
                  <a:p>
                    <a:pPr algn="ctr"/>
                    <a:endParaRPr lang="zh-CN" altLang="en-US" sz="1400"/>
                  </a:p>
                </p:txBody>
              </p:sp>
              <p:sp>
                <p:nvSpPr>
                  <p:cNvPr id="13" name="矩形 12"/>
                  <p:cNvSpPr/>
                  <p:nvPr/>
                </p:nvSpPr>
                <p:spPr>
                  <a:xfrm>
                    <a:off x="7748" y="5299"/>
                    <a:ext cx="2652" cy="637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矩形 13"/>
                  <p:cNvSpPr/>
                  <p:nvPr/>
                </p:nvSpPr>
                <p:spPr>
                  <a:xfrm>
                    <a:off x="7748" y="5154"/>
                    <a:ext cx="2652" cy="14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" name="直接箭头连接符 14"/>
                  <p:cNvCxnSpPr/>
                  <p:nvPr/>
                </p:nvCxnSpPr>
                <p:spPr>
                  <a:xfrm flipH="1">
                    <a:off x="7400" y="5155"/>
                    <a:ext cx="11" cy="492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箭头连接符 15"/>
                  <p:cNvCxnSpPr/>
                  <p:nvPr/>
                </p:nvCxnSpPr>
                <p:spPr>
                  <a:xfrm flipV="1">
                    <a:off x="7431" y="5633"/>
                    <a:ext cx="6185" cy="14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" name="矩形 16"/>
                  <p:cNvSpPr/>
                  <p:nvPr/>
                </p:nvSpPr>
                <p:spPr>
                  <a:xfrm>
                    <a:off x="7748" y="4518"/>
                    <a:ext cx="2652" cy="637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0911" y="5299"/>
                    <a:ext cx="887" cy="637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10778" y="6139"/>
                    <a:ext cx="1885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altLang="en-US" sz="1400">
                        <a:sym typeface="+mn-ea"/>
                      </a:rPr>
                      <a:t>加湿器干侧出口</a:t>
                    </a:r>
                    <a:r>
                      <a:rPr lang="en-US" altLang="zh-CN" sz="1400">
                        <a:sym typeface="+mn-ea"/>
                      </a:rPr>
                      <a:t>=</a:t>
                    </a:r>
                    <a:r>
                      <a:rPr lang="zh-CN" altLang="en-US" sz="1400">
                        <a:sym typeface="+mn-ea"/>
                      </a:rPr>
                      <a:t>电堆</a:t>
                    </a:r>
                    <a:r>
                      <a:rPr lang="zh-CN" altLang="en-US" sz="1400">
                        <a:sym typeface="+mn-ea"/>
                      </a:rPr>
                      <a:t>入口</a:t>
                    </a:r>
                    <a:endParaRPr lang="zh-CN" altLang="en-US" sz="1400">
                      <a:sym typeface="+mn-ea"/>
                    </a:endParaRPr>
                  </a:p>
                </p:txBody>
              </p:sp>
              <p:sp>
                <p:nvSpPr>
                  <p:cNvPr id="20" name="矩形 19"/>
                  <p:cNvSpPr/>
                  <p:nvPr/>
                </p:nvSpPr>
                <p:spPr>
                  <a:xfrm>
                    <a:off x="7565" y="4044"/>
                    <a:ext cx="3059" cy="2095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8235" y="6257"/>
                    <a:ext cx="1885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altLang="en-US" sz="1400">
                        <a:sym typeface="+mn-ea"/>
                      </a:rPr>
                      <a:t>加湿器的</a:t>
                    </a:r>
                    <a:r>
                      <a:rPr lang="zh-CN" altLang="en-US" sz="1400">
                        <a:sym typeface="+mn-ea"/>
                      </a:rPr>
                      <a:t>水热交换</a:t>
                    </a:r>
                    <a:endParaRPr lang="zh-CN" altLang="en-US" sz="1400">
                      <a:sym typeface="+mn-ea"/>
                    </a:endParaRPr>
                  </a:p>
                </p:txBody>
              </p:sp>
              <p:sp>
                <p:nvSpPr>
                  <p:cNvPr id="22" name="圆角矩形 21"/>
                  <p:cNvSpPr/>
                  <p:nvPr/>
                </p:nvSpPr>
                <p:spPr>
                  <a:xfrm>
                    <a:off x="13636" y="3352"/>
                    <a:ext cx="1328" cy="3037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3" name="直接箭头连接符 22"/>
                  <p:cNvCxnSpPr/>
                  <p:nvPr/>
                </p:nvCxnSpPr>
                <p:spPr>
                  <a:xfrm flipH="1" flipV="1">
                    <a:off x="10130" y="3715"/>
                    <a:ext cx="3486" cy="6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矩形 23"/>
                  <p:cNvSpPr/>
                  <p:nvPr/>
                </p:nvSpPr>
                <p:spPr>
                  <a:xfrm>
                    <a:off x="13199" y="3407"/>
                    <a:ext cx="887" cy="637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12178" y="2362"/>
                    <a:ext cx="2929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altLang="en-US" sz="1400">
                        <a:sym typeface="+mn-ea"/>
                      </a:rPr>
                      <a:t>电堆出口</a:t>
                    </a:r>
                    <a:r>
                      <a:rPr lang="en-US" altLang="zh-CN" sz="1400">
                        <a:sym typeface="+mn-ea"/>
                      </a:rPr>
                      <a:t>=</a:t>
                    </a:r>
                    <a:r>
                      <a:rPr lang="zh-CN" altLang="en-US" sz="1400">
                        <a:sym typeface="+mn-ea"/>
                      </a:rPr>
                      <a:t>加湿器湿侧</a:t>
                    </a:r>
                    <a:r>
                      <a:rPr lang="zh-CN" altLang="en-US" sz="1400">
                        <a:sym typeface="+mn-ea"/>
                      </a:rPr>
                      <a:t>入口</a:t>
                    </a:r>
                    <a:endParaRPr lang="zh-CN" altLang="en-US" sz="1400">
                      <a:sym typeface="+mn-ea"/>
                    </a:endParaRPr>
                  </a:p>
                </p:txBody>
              </p:sp>
              <p:cxnSp>
                <p:nvCxnSpPr>
                  <p:cNvPr id="26" name="直接箭头连接符 25"/>
                  <p:cNvCxnSpPr/>
                  <p:nvPr/>
                </p:nvCxnSpPr>
                <p:spPr>
                  <a:xfrm>
                    <a:off x="10118" y="3675"/>
                    <a:ext cx="0" cy="808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箭头连接符 26"/>
                  <p:cNvCxnSpPr/>
                  <p:nvPr/>
                </p:nvCxnSpPr>
                <p:spPr>
                  <a:xfrm>
                    <a:off x="8586" y="3721"/>
                    <a:ext cx="0" cy="808"/>
                  </a:xfrm>
                  <a:prstGeom prst="straightConnector1">
                    <a:avLst/>
                  </a:prstGeom>
                  <a:ln>
                    <a:headEnd type="arrow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/>
                  <p:cNvCxnSpPr/>
                  <p:nvPr/>
                </p:nvCxnSpPr>
                <p:spPr>
                  <a:xfrm flipH="1" flipV="1">
                    <a:off x="3974" y="3727"/>
                    <a:ext cx="4612" cy="2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文本框 28"/>
                  <p:cNvSpPr txBox="1"/>
                  <p:nvPr/>
                </p:nvSpPr>
                <p:spPr>
                  <a:xfrm>
                    <a:off x="7400" y="2823"/>
                    <a:ext cx="2058" cy="5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altLang="en-US" sz="1400">
                        <a:sym typeface="+mn-ea"/>
                      </a:rPr>
                      <a:t>加湿器湿侧出口</a:t>
                    </a:r>
                    <a:r>
                      <a:rPr lang="en-US" altLang="zh-CN" sz="1400">
                        <a:sym typeface="+mn-ea"/>
                      </a:rPr>
                      <a:t>=</a:t>
                    </a:r>
                    <a:r>
                      <a:rPr lang="zh-CN" altLang="en-US" sz="1400">
                        <a:sym typeface="+mn-ea"/>
                      </a:rPr>
                      <a:t>降温尾气</a:t>
                    </a:r>
                    <a:endParaRPr lang="zh-CN" altLang="en-US" sz="1400">
                      <a:sym typeface="+mn-ea"/>
                    </a:endParaRPr>
                  </a:p>
                </p:txBody>
              </p:sp>
              <p:sp>
                <p:nvSpPr>
                  <p:cNvPr id="30" name="矩形 29"/>
                  <p:cNvSpPr/>
                  <p:nvPr/>
                </p:nvSpPr>
                <p:spPr>
                  <a:xfrm>
                    <a:off x="5272" y="3376"/>
                    <a:ext cx="887" cy="637"/>
                  </a:xfrm>
                  <a:prstGeom prst="rect">
                    <a:avLst/>
                  </a:prstGeom>
                  <a:ln w="28575"/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4890" y="2188"/>
                    <a:ext cx="1572" cy="83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altLang="en-US" sz="1400">
                        <a:sym typeface="+mn-ea"/>
                      </a:rPr>
                      <a:t>降温尾气与循环尾气、排空</a:t>
                    </a:r>
                    <a:r>
                      <a:rPr lang="zh-CN" altLang="en-US" sz="1400">
                        <a:sym typeface="+mn-ea"/>
                      </a:rPr>
                      <a:t>尾气</a:t>
                    </a:r>
                    <a:endParaRPr lang="zh-CN" altLang="en-US" sz="1400">
                      <a:sym typeface="+mn-ea"/>
                    </a:endParaRPr>
                  </a:p>
                </p:txBody>
              </p:sp>
            </p:grpSp>
            <p:sp>
              <p:nvSpPr>
                <p:cNvPr id="48" name="文本框 47"/>
                <p:cNvSpPr txBox="1"/>
                <p:nvPr/>
              </p:nvSpPr>
              <p:spPr>
                <a:xfrm>
                  <a:off x="7496" y="7545"/>
                  <a:ext cx="1437" cy="82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r>
                    <a:rPr lang="zh-CN" altLang="en-US" sz="1400">
                      <a:sym typeface="+mn-ea"/>
                    </a:rPr>
                    <a:t>加湿器干侧入口</a:t>
                  </a:r>
                  <a:endParaRPr lang="zh-CN" altLang="en-US" sz="1400">
                    <a:sym typeface="+mn-ea"/>
                  </a:endParaRPr>
                </a:p>
              </p:txBody>
            </p:sp>
          </p:grpSp>
          <p:sp>
            <p:nvSpPr>
              <p:cNvPr id="50" name="等腰三角形 49"/>
              <p:cNvSpPr/>
              <p:nvPr/>
            </p:nvSpPr>
            <p:spPr>
              <a:xfrm>
                <a:off x="6986" y="5414"/>
                <a:ext cx="724" cy="1383"/>
              </a:xfrm>
              <a:prstGeom prst="triangl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6703" y="6930"/>
              <a:ext cx="126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中冷器</a:t>
              </a:r>
              <a:endParaRPr lang="zh-CN" altLang="en-US" sz="1400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WPS 演示</Application>
  <PresentationFormat>宽屏</PresentationFormat>
  <Paragraphs>144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WPS_1632448344</cp:lastModifiedBy>
  <cp:revision>166</cp:revision>
  <dcterms:created xsi:type="dcterms:W3CDTF">2019-06-19T02:08:00Z</dcterms:created>
  <dcterms:modified xsi:type="dcterms:W3CDTF">2026-04-30T03:15:13Z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3511B73F4DB549B0A0A7BA9302F0390F_11</vt:lpwstr>
  </property>
</Properties>
</file>