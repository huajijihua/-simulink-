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377" r:id="rId2"/>
    <p:sldId id="378" r:id="rId3"/>
    <p:sldId id="381" r:id="rId4"/>
    <p:sldId id="382" r:id="rId5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365">
          <p15:clr>
            <a:srgbClr val="A4A3A4"/>
          </p15:clr>
        </p15:guide>
        <p15:guide id="2" pos="216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  <p:cmAuthor id="2" name="吴俊樑" initials="吴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2A8C"/>
    <a:srgbClr val="00B050"/>
    <a:srgbClr val="F1F1F1"/>
    <a:srgbClr val="F2F2F2"/>
    <a:srgbClr val="FF374A"/>
    <a:srgbClr val="4964E4"/>
    <a:srgbClr val="84EB7A"/>
    <a:srgbClr val="B10011"/>
    <a:srgbClr val="F5B482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01" autoAdjust="0"/>
    <p:restoredTop sz="86388" autoAdjust="0"/>
  </p:normalViewPr>
  <p:slideViewPr>
    <p:cSldViewPr snapToObjects="1">
      <p:cViewPr>
        <p:scale>
          <a:sx n="100" d="100"/>
          <a:sy n="100" d="100"/>
        </p:scale>
        <p:origin x="672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42" d="100"/>
          <a:sy n="42" d="100"/>
        </p:scale>
        <p:origin x="-1757" y="-96"/>
      </p:cViewPr>
      <p:guideLst>
        <p:guide orient="horz" pos="3365"/>
        <p:guide pos="216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826" y="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0259903-FC65-400A-9E76-C4C330AD3D6E}" type="datetimeFigureOut">
              <a:rPr lang="zh-CN" altLang="en-US"/>
              <a:t>2026/6/6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08" tIns="46054" rIns="92108" bIns="4605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288" y="4777245"/>
            <a:ext cx="5439101" cy="3908363"/>
          </a:xfrm>
          <a:prstGeom prst="rect">
            <a:avLst/>
          </a:prstGeom>
        </p:spPr>
        <p:txBody>
          <a:bodyPr vert="horz" lIns="92108" tIns="46054" rIns="92108" bIns="46054" rtlCol="0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31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826" y="942831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67DAE94-9449-4026-AC54-378A5A1A8636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1pPr>
    <a:lvl2pPr marL="48577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2pPr>
    <a:lvl3pPr marL="97155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3pPr>
    <a:lvl4pPr marL="145732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4pPr>
    <a:lvl5pPr marL="194310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5pPr>
    <a:lvl6pPr marL="242951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6pPr>
    <a:lvl7pPr marL="291528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7pPr>
    <a:lvl8pPr marL="340106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8pPr>
    <a:lvl9pPr marL="388683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无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基准覆盖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13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个台架稳态点，压力顺序通过。</a:t>
            </a: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单电池电压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RMSE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约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8.5 mV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，温度范围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61.9-80.3 </a:t>
            </a:r>
            <a:r>
              <a:rPr lang="en-US" altLang="zh-CN" sz="1400" dirty="0" err="1">
                <a:latin typeface="Arial" panose="020B0604020202020204" pitchFamily="34" charset="0"/>
                <a:ea typeface="微软雅黑" panose="020B0503020204020204" pitchFamily="34" charset="-122"/>
              </a:rPr>
              <a:t>degC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，入堆氧分压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27.7-47.7 kPa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当前模型适合做电压、氧分压、温度的半定量判断。</a:t>
            </a: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由于采用加湿器，湿度误差仍偏大，湿度结论只作为趋势参考，不作为强定量结论。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趋势</a:t>
            </a: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固定电流和固定供气时，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增大会降低入堆氧分压和实际氧计量比。</a:t>
            </a: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EGR=0.3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时，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0.1/0.2/0.3 A/cm2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电压下降约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0.6/1.1/1.4 mV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EGR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继续升高，高电流点会接近缺氧边界。</a:t>
            </a:r>
          </a:p>
          <a:p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判断：电压降低需求低计量比。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7DAE94-9449-4026-AC54-378A5A1A863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163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9B7D5-375B-E75D-298D-9413F2120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642379-28E4-9F05-38BD-702FBE1F0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70894B-8605-6A73-DB16-CF1ED9D96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固定目标单电池电压时，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越高，系统可输出电流越低。</a:t>
            </a:r>
          </a:p>
          <a:p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- EGR=0.3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时，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0.800/0.775/0.750 V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下电流下降约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1.9%/2.4%/2.4%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</a:p>
          <a:p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- EGR=0.7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时，电流下降扩大到约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12%-16%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</a:p>
          <a:p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对实验的含义：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</a:rPr>
              <a:t>cEGR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不能只看电压，还要同步记录电流、氢耗、氧计量比和入口氧分压。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DEBB82-79CF-9444-B1FB-11EB36201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7DAE94-9449-4026-AC54-378A5A1A863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673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5396D-67D6-BE70-1369-1BB19B8B9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E96F02-9099-E663-93E1-2AA91E59F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B2326C-A37D-1C19-2FAF-E06A1CB78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若强行维持入堆氧分压，需要提高新鲜空气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空压机入口流量。</a:t>
            </a: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EGR=0.3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时，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0.1 A/cm2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流量约增加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76%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0.2 A/cm2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接近翻倍。</a:t>
            </a: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- 0.3 A/cm2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下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EGR=0.3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已触发压力链失效，不作为有效工况。</a:t>
            </a: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技术判断：</a:t>
            </a:r>
            <a:r>
              <a:rPr lang="en-US" altLang="zh-CN" sz="1400" dirty="0" err="1">
                <a:latin typeface="Arial" panose="020B0604020202020204" pitchFamily="34" charset="0"/>
                <a:ea typeface="微软雅黑" panose="020B0503020204020204" pitchFamily="34" charset="-122"/>
              </a:rPr>
              <a:t>cEGR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适合重点评估低负荷自增湿、冷启动和高电位限制；高负荷或高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需要严格限制，下一步应补空压机功耗和台架闭环验证后再评估净效率。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817BAF-0451-E19D-66E9-1E70AD712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7DAE94-9449-4026-AC54-378A5A1A863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100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0" y="2564904"/>
            <a:ext cx="12192000" cy="1775292"/>
          </a:xfrm>
          <a:prstGeom prst="rect">
            <a:avLst/>
          </a:prstGeom>
        </p:spPr>
        <p:txBody>
          <a:bodyPr anchor="ctr" anchorCtr="0"/>
          <a:lstStyle>
            <a:lvl1pPr algn="ctr">
              <a:lnSpc>
                <a:spcPct val="100000"/>
              </a:lnSpc>
              <a:defRPr sz="5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76097"/>
            <a:ext cx="9921552" cy="165576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6942142"/>
            <a:ext cx="12192000" cy="614361"/>
            <a:chOff x="0" y="6942142"/>
            <a:chExt cx="12192000" cy="614361"/>
          </a:xfrm>
        </p:grpSpPr>
        <p:sp>
          <p:nvSpPr>
            <p:cNvPr id="6" name="同侧圆角矩形 3"/>
            <p:cNvSpPr/>
            <p:nvPr userDrawn="1"/>
          </p:nvSpPr>
          <p:spPr>
            <a:xfrm rot="10800000">
              <a:off x="0" y="6942142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5903385" y="7004052"/>
              <a:ext cx="1512000" cy="4683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解放蓝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21/42/140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7431809" y="7004052"/>
              <a:ext cx="1512000" cy="4683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39/150/212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10488656" y="7004052"/>
              <a:ext cx="1512000" cy="4683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辅助红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177/0/17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封面页</a:t>
              </a: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8960233" y="7004052"/>
              <a:ext cx="1512000" cy="468311"/>
            </a:xfrm>
            <a:prstGeom prst="rect">
              <a:avLst/>
            </a:prstGeom>
            <a:solidFill>
              <a:srgbClr val="A7A9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辅助灰</a:t>
              </a:r>
              <a:endPara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167/169/172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65" y="-14605"/>
            <a:ext cx="12230735" cy="1291590"/>
          </a:xfrm>
          <a:prstGeom prst="rect">
            <a:avLst/>
          </a:prstGeom>
        </p:spPr>
      </p:pic>
      <p:pic>
        <p:nvPicPr>
          <p:cNvPr id="16" name="图形 3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2897" y="327314"/>
            <a:ext cx="2881252" cy="63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/>
          <p:cNvSpPr/>
          <p:nvPr userDrawn="1"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19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目录页</a:t>
              </a: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  <p:sp>
        <p:nvSpPr>
          <p:cNvPr id="11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7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477723" y="1063639"/>
            <a:ext cx="11231448" cy="468452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532091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052513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651F86CF-6A7C-27CE-B134-999F8DF27D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960" y="3820317"/>
            <a:ext cx="5550421" cy="2638456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模型内容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4A3F7E-7AF8-827C-6CAC-6145068941AC}"/>
              </a:ext>
            </a:extLst>
          </p:cNvPr>
          <p:cNvSpPr txBox="1"/>
          <p:nvPr/>
        </p:nvSpPr>
        <p:spPr>
          <a:xfrm>
            <a:off x="649959" y="5825863"/>
            <a:ext cx="4797826" cy="483876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rgbClr val="152A8C"/>
                </a:solidFill>
                <a:sym typeface="+mn-ea"/>
              </a:rPr>
              <a:t>模型采用自吸方式车载结构，参数基于短堆台架测试数据、</a:t>
            </a:r>
            <a:r>
              <a:rPr lang="en-US" altLang="zh-CN" sz="1400" dirty="0">
                <a:solidFill>
                  <a:srgbClr val="152A8C"/>
                </a:solidFill>
                <a:sym typeface="+mn-ea"/>
              </a:rPr>
              <a:t>GZS60P</a:t>
            </a:r>
            <a:r>
              <a:rPr lang="zh-CN" altLang="en-US" sz="1400" dirty="0">
                <a:solidFill>
                  <a:srgbClr val="152A8C"/>
                </a:solidFill>
                <a:sym typeface="+mn-ea"/>
              </a:rPr>
              <a:t>加湿器拟合，用于</a:t>
            </a:r>
            <a:r>
              <a:rPr lang="en-US" altLang="zh-CN" sz="1400" dirty="0">
                <a:solidFill>
                  <a:srgbClr val="152A8C"/>
                </a:solidFill>
                <a:sym typeface="+mn-ea"/>
              </a:rPr>
              <a:t>EGR</a:t>
            </a:r>
            <a:r>
              <a:rPr lang="zh-CN" altLang="en-US" sz="1400" dirty="0">
                <a:solidFill>
                  <a:srgbClr val="152A8C"/>
                </a:solidFill>
                <a:sym typeface="+mn-ea"/>
              </a:rPr>
              <a:t>工况趋势判断。</a:t>
            </a:r>
            <a:endParaRPr lang="zh-CN" altLang="en-US" sz="1400" dirty="0">
              <a:solidFill>
                <a:srgbClr val="152A8C"/>
              </a:solidFill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18FCF48-C3B7-395A-6066-43D4DC78B097}"/>
              </a:ext>
            </a:extLst>
          </p:cNvPr>
          <p:cNvGrpSpPr/>
          <p:nvPr/>
        </p:nvGrpSpPr>
        <p:grpSpPr>
          <a:xfrm>
            <a:off x="962145" y="1327394"/>
            <a:ext cx="3715266" cy="2105498"/>
            <a:chOff x="884600" y="1328902"/>
            <a:chExt cx="3715266" cy="2105498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8BADEB07-B32C-E1F9-C12E-C6CFBB995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4600" y="1328902"/>
              <a:ext cx="3715266" cy="1662376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53FB230-AA53-ABA0-4F61-D1A8EA2DC0BA}"/>
                </a:ext>
              </a:extLst>
            </p:cNvPr>
            <p:cNvSpPr txBox="1"/>
            <p:nvPr/>
          </p:nvSpPr>
          <p:spPr>
            <a:xfrm>
              <a:off x="1498715" y="3157401"/>
              <a:ext cx="271967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accent1"/>
                  </a:solidFill>
                  <a:latin typeface="Arial" panose="020B0604020202020204" pitchFamily="34" charset="0"/>
                  <a:sym typeface="+mn-ea"/>
                </a:rPr>
                <a:t>PEMFC</a:t>
              </a:r>
              <a:r>
                <a:rPr lang="zh-CN" altLang="en-US" sz="1200" b="1" dirty="0">
                  <a:solidFill>
                    <a:schemeClr val="accent1"/>
                  </a:solidFill>
                  <a:latin typeface="Arial" panose="020B0604020202020204" pitchFamily="34" charset="0"/>
                  <a:sym typeface="+mn-ea"/>
                </a:rPr>
                <a:t>阴极尾气循环系统车载结构</a:t>
              </a:r>
              <a:endParaRPr lang="zh-CN" altLang="en-US" sz="1200" b="1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F31724D-5909-0C92-040A-1761ACC30D10}"/>
              </a:ext>
            </a:extLst>
          </p:cNvPr>
          <p:cNvGrpSpPr/>
          <p:nvPr/>
        </p:nvGrpSpPr>
        <p:grpSpPr>
          <a:xfrm>
            <a:off x="772945" y="3727297"/>
            <a:ext cx="4358293" cy="1870802"/>
            <a:chOff x="695400" y="3728805"/>
            <a:chExt cx="4358293" cy="1870802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79209F68-CAEF-727C-7132-19BDCC920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5400" y="3728805"/>
              <a:ext cx="4358293" cy="1516803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2807346-3574-D488-44BB-B1BE78A4E595}"/>
                </a:ext>
              </a:extLst>
            </p:cNvPr>
            <p:cNvSpPr txBox="1"/>
            <p:nvPr/>
          </p:nvSpPr>
          <p:spPr>
            <a:xfrm>
              <a:off x="1476659" y="5322608"/>
              <a:ext cx="271967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accent1"/>
                  </a:solidFill>
                  <a:latin typeface="Arial" panose="020B0604020202020204" pitchFamily="34" charset="0"/>
                  <a:sym typeface="+mn-ea"/>
                </a:rPr>
                <a:t>Simulink</a:t>
              </a:r>
              <a:r>
                <a:rPr lang="zh-CN" altLang="en-US" sz="1200" b="1" dirty="0">
                  <a:solidFill>
                    <a:schemeClr val="accent1"/>
                  </a:solidFill>
                  <a:latin typeface="Arial" panose="020B0604020202020204" pitchFamily="34" charset="0"/>
                  <a:sym typeface="+mn-ea"/>
                </a:rPr>
                <a:t>系统模型</a:t>
              </a:r>
              <a:endParaRPr lang="zh-CN" altLang="en-US" sz="1200" b="1" dirty="0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BA2F18A-4878-FA32-48AF-DC28C9F0192C}"/>
              </a:ext>
            </a:extLst>
          </p:cNvPr>
          <p:cNvGrpSpPr/>
          <p:nvPr/>
        </p:nvGrpSpPr>
        <p:grpSpPr>
          <a:xfrm>
            <a:off x="5904270" y="927230"/>
            <a:ext cx="5213803" cy="2837874"/>
            <a:chOff x="5826725" y="928738"/>
            <a:chExt cx="5213803" cy="2837874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0C4794B-DA82-98D9-543E-FD1B2A79502F}"/>
                </a:ext>
              </a:extLst>
            </p:cNvPr>
            <p:cNvPicPr>
              <a:picLocks/>
            </p:cNvPicPr>
            <p:nvPr/>
          </p:nvPicPr>
          <p:blipFill>
            <a:blip r:embed="rId6"/>
            <a:srcRect b="18764"/>
            <a:stretch/>
          </p:blipFill>
          <p:spPr>
            <a:xfrm>
              <a:off x="5826725" y="928738"/>
              <a:ext cx="5213803" cy="2505662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21D849C-CB70-9BA8-67C9-F509A8F7D3C7}"/>
                </a:ext>
              </a:extLst>
            </p:cNvPr>
            <p:cNvSpPr txBox="1"/>
            <p:nvPr/>
          </p:nvSpPr>
          <p:spPr>
            <a:xfrm>
              <a:off x="7226189" y="3489613"/>
              <a:ext cx="271967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accent1"/>
                  </a:solidFill>
                  <a:latin typeface="Arial" panose="020B0604020202020204" pitchFamily="34" charset="0"/>
                  <a:sym typeface="+mn-ea"/>
                </a:rPr>
                <a:t>模块计算内容</a:t>
              </a:r>
              <a:endParaRPr lang="zh-CN" altLang="en-US" sz="1200" b="1" dirty="0"/>
            </a:p>
          </p:txBody>
        </p:sp>
      </p:grp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3BE6C7A-9C70-E888-2424-EFB07C895890}"/>
              </a:ext>
            </a:extLst>
          </p:cNvPr>
          <p:cNvCxnSpPr/>
          <p:nvPr/>
        </p:nvCxnSpPr>
        <p:spPr>
          <a:xfrm>
            <a:off x="5453465" y="1411268"/>
            <a:ext cx="0" cy="424847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99FC7BF-10BA-9E70-4A95-DDDF2B3050A9}"/>
              </a:ext>
            </a:extLst>
          </p:cNvPr>
          <p:cNvGrpSpPr/>
          <p:nvPr/>
        </p:nvGrpSpPr>
        <p:grpSpPr>
          <a:xfrm>
            <a:off x="7303734" y="4147572"/>
            <a:ext cx="2719674" cy="2552753"/>
            <a:chOff x="7226189" y="4149080"/>
            <a:chExt cx="2719674" cy="2552753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9FDED93-4351-7CD1-6915-15AFDD1BEF7A}"/>
                </a:ext>
              </a:extLst>
            </p:cNvPr>
            <p:cNvSpPr txBox="1"/>
            <p:nvPr/>
          </p:nvSpPr>
          <p:spPr>
            <a:xfrm>
              <a:off x="7226189" y="6424834"/>
              <a:ext cx="271967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accent1"/>
                  </a:solidFill>
                  <a:latin typeface="Arial" panose="020B0604020202020204" pitchFamily="34" charset="0"/>
                  <a:sym typeface="+mn-ea"/>
                </a:rPr>
                <a:t>短堆台架测试拟合</a:t>
              </a:r>
              <a:endParaRPr lang="zh-CN" altLang="en-US" sz="1200" b="1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A0E4B19-DA61-5564-9382-209069929DC2}"/>
                </a:ext>
              </a:extLst>
            </p:cNvPr>
            <p:cNvSpPr txBox="1"/>
            <p:nvPr/>
          </p:nvSpPr>
          <p:spPr>
            <a:xfrm>
              <a:off x="7912119" y="4149080"/>
              <a:ext cx="360040" cy="249681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noAutofit/>
            </a:bodyPr>
            <a:lstStyle/>
            <a:p>
              <a:pPr algn="l">
                <a:spcBef>
                  <a:spcPts val="600"/>
                </a:spcBef>
              </a:pPr>
              <a:r>
                <a:rPr lang="en-US" altLang="zh-CN" sz="1100" dirty="0">
                  <a:solidFill>
                    <a:schemeClr val="accent4"/>
                  </a:solidFill>
                  <a:latin typeface="+mj-lt"/>
                </a:rPr>
                <a:t>1.</a:t>
              </a:r>
              <a:r>
                <a:rPr lang="zh-CN" altLang="en-US" sz="1100" dirty="0">
                  <a:solidFill>
                    <a:schemeClr val="accent4"/>
                  </a:solidFill>
                  <a:latin typeface="+mj-lt"/>
                </a:rPr>
                <a:t>电压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21FFE49F-E1F7-EF91-E4C2-7B72114C1CCD}"/>
                </a:ext>
              </a:extLst>
            </p:cNvPr>
            <p:cNvSpPr txBox="1"/>
            <p:nvPr/>
          </p:nvSpPr>
          <p:spPr>
            <a:xfrm>
              <a:off x="8614792" y="4149080"/>
              <a:ext cx="360040" cy="249681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noAutofit/>
            </a:bodyPr>
            <a:lstStyle/>
            <a:p>
              <a:pPr algn="l">
                <a:spcBef>
                  <a:spcPts val="600"/>
                </a:spcBef>
              </a:pPr>
              <a:r>
                <a:rPr lang="en-US" altLang="zh-CN" sz="1100" dirty="0">
                  <a:solidFill>
                    <a:schemeClr val="accent4"/>
                  </a:solidFill>
                  <a:latin typeface="+mj-lt"/>
                </a:rPr>
                <a:t>2.</a:t>
              </a:r>
              <a:r>
                <a:rPr lang="zh-CN" altLang="en-US" sz="1100" dirty="0">
                  <a:solidFill>
                    <a:schemeClr val="accent4"/>
                  </a:solidFill>
                  <a:latin typeface="+mj-lt"/>
                </a:rPr>
                <a:t>温度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247617E1-570D-9576-2153-B2F8A71418B6}"/>
                </a:ext>
              </a:extLst>
            </p:cNvPr>
            <p:cNvSpPr txBox="1"/>
            <p:nvPr/>
          </p:nvSpPr>
          <p:spPr>
            <a:xfrm>
              <a:off x="7912119" y="5411567"/>
              <a:ext cx="360040" cy="249681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noAutofit/>
            </a:bodyPr>
            <a:lstStyle/>
            <a:p>
              <a:pPr algn="l">
                <a:spcBef>
                  <a:spcPts val="600"/>
                </a:spcBef>
              </a:pPr>
              <a:r>
                <a:rPr lang="en-US" altLang="zh-CN" sz="1100" dirty="0">
                  <a:solidFill>
                    <a:schemeClr val="accent4"/>
                  </a:solidFill>
                  <a:latin typeface="+mj-lt"/>
                </a:rPr>
                <a:t>3.</a:t>
              </a:r>
              <a:r>
                <a:rPr lang="zh-CN" altLang="en-US" sz="1100" dirty="0">
                  <a:solidFill>
                    <a:schemeClr val="accent4"/>
                  </a:solidFill>
                  <a:latin typeface="+mj-lt"/>
                </a:rPr>
                <a:t>压力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9E18DB6-EA5C-7BA9-B345-B05060B3F964}"/>
                </a:ext>
              </a:extLst>
            </p:cNvPr>
            <p:cNvSpPr txBox="1"/>
            <p:nvPr/>
          </p:nvSpPr>
          <p:spPr>
            <a:xfrm>
              <a:off x="8616280" y="5405314"/>
              <a:ext cx="360040" cy="249681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noAutofit/>
            </a:bodyPr>
            <a:lstStyle/>
            <a:p>
              <a:pPr algn="l">
                <a:spcBef>
                  <a:spcPts val="600"/>
                </a:spcBef>
              </a:pPr>
              <a:r>
                <a:rPr lang="en-US" altLang="zh-CN" sz="1100" dirty="0">
                  <a:solidFill>
                    <a:schemeClr val="accent4"/>
                  </a:solidFill>
                  <a:latin typeface="+mj-lt"/>
                </a:rPr>
                <a:t>4.</a:t>
              </a:r>
              <a:r>
                <a:rPr lang="zh-CN" altLang="en-US" sz="1100" dirty="0">
                  <a:solidFill>
                    <a:schemeClr val="accent4"/>
                  </a:solidFill>
                  <a:latin typeface="+mj-lt"/>
                </a:rPr>
                <a:t>湿度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E1FD9304-D325-E280-C681-2D46D08F0D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1" y="1412818"/>
            <a:ext cx="10592632" cy="5025600"/>
          </a:xfrm>
          <a:prstGeom prst="rect">
            <a:avLst/>
          </a:prstGeom>
        </p:spPr>
      </p:pic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9E369B9-2ACB-D8E0-AAC0-27CE55E169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仿真结果</a:t>
            </a:r>
            <a:r>
              <a:rPr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1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6E0356F-1894-C9AE-F46D-3BD7F8F4C3CB}"/>
              </a:ext>
            </a:extLst>
          </p:cNvPr>
          <p:cNvSpPr txBox="1"/>
          <p:nvPr/>
        </p:nvSpPr>
        <p:spPr>
          <a:xfrm>
            <a:off x="477723" y="957028"/>
            <a:ext cx="6480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恒电流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扫描（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0.1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0.2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0.3 A/cm</a:t>
            </a:r>
            <a:r>
              <a:rPr lang="en-US" altLang="zh-CN" sz="1400" b="1" baseline="30000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）：看氧稀释和电压下降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DEB5263-7E56-B7A1-7851-915F7A842379}"/>
              </a:ext>
            </a:extLst>
          </p:cNvPr>
          <p:cNvSpPr txBox="1"/>
          <p:nvPr/>
        </p:nvSpPr>
        <p:spPr>
          <a:xfrm>
            <a:off x="2207568" y="1947996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1.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A30DBD-AC9F-1817-B97F-20C9B92AB144}"/>
              </a:ext>
            </a:extLst>
          </p:cNvPr>
          <p:cNvSpPr txBox="1"/>
          <p:nvPr/>
        </p:nvSpPr>
        <p:spPr>
          <a:xfrm>
            <a:off x="5638800" y="1844824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2.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氧分压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5D310B-69F1-F854-A4B1-1EEC3C550789}"/>
              </a:ext>
            </a:extLst>
          </p:cNvPr>
          <p:cNvSpPr txBox="1"/>
          <p:nvPr/>
        </p:nvSpPr>
        <p:spPr>
          <a:xfrm>
            <a:off x="9070032" y="1881348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3.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计量比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7C565E-14A6-E55A-5381-B1CB9268D862}"/>
              </a:ext>
            </a:extLst>
          </p:cNvPr>
          <p:cNvSpPr txBox="1"/>
          <p:nvPr/>
        </p:nvSpPr>
        <p:spPr>
          <a:xfrm>
            <a:off x="2156139" y="431058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4.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含湿量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AF1A41B-D5AD-51FB-8277-C94C68875452}"/>
              </a:ext>
            </a:extLst>
          </p:cNvPr>
          <p:cNvSpPr txBox="1"/>
          <p:nvPr/>
        </p:nvSpPr>
        <p:spPr>
          <a:xfrm>
            <a:off x="5638800" y="431586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5.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水分压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1BAFCC5-B886-1F75-B32B-854A76530D2B}"/>
              </a:ext>
            </a:extLst>
          </p:cNvPr>
          <p:cNvSpPr txBox="1"/>
          <p:nvPr/>
        </p:nvSpPr>
        <p:spPr>
          <a:xfrm>
            <a:off x="9070032" y="431586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6.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温度</a:t>
            </a:r>
          </a:p>
        </p:txBody>
      </p:sp>
    </p:spTree>
    <p:extLst>
      <p:ext uri="{BB962C8B-B14F-4D97-AF65-F5344CB8AC3E}">
        <p14:creationId xmlns:p14="http://schemas.microsoft.com/office/powerpoint/2010/main" val="302682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DD035-79E2-F521-3D39-DAC96B978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01207FD2-B593-DDCC-1864-B19AEF6880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61" y="1412172"/>
            <a:ext cx="10596103" cy="5025600"/>
          </a:xfrm>
          <a:prstGeom prst="rect">
            <a:avLst/>
          </a:prstGeom>
        </p:spPr>
      </p:pic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2D07351-44AA-1D83-479B-65612CA188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仿真结果</a:t>
            </a:r>
            <a:r>
              <a:rPr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2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74B62B8-F347-0A33-0B98-D299C5EA78B3}"/>
              </a:ext>
            </a:extLst>
          </p:cNvPr>
          <p:cNvSpPr txBox="1"/>
          <p:nvPr/>
        </p:nvSpPr>
        <p:spPr>
          <a:xfrm>
            <a:off x="477722" y="957028"/>
            <a:ext cx="103708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恒电压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扫描（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0.8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0.775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0.75 V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）：同电压下可输出电流下降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zh-CN" altLang="en-US" sz="1400" b="1" dirty="0">
              <a:solidFill>
                <a:srgbClr val="152A8C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8DCEE8-9C16-958E-603E-4A5F44800903}"/>
              </a:ext>
            </a:extLst>
          </p:cNvPr>
          <p:cNvSpPr txBox="1"/>
          <p:nvPr/>
        </p:nvSpPr>
        <p:spPr>
          <a:xfrm>
            <a:off x="2207568" y="1947996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1.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90CB99-A2AD-B1C2-FAB7-69E657255295}"/>
              </a:ext>
            </a:extLst>
          </p:cNvPr>
          <p:cNvSpPr txBox="1"/>
          <p:nvPr/>
        </p:nvSpPr>
        <p:spPr>
          <a:xfrm>
            <a:off x="5638800" y="1844824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2.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电流密度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3FB7A5-0EBA-E71F-7257-3EFE22D255B0}"/>
              </a:ext>
            </a:extLst>
          </p:cNvPr>
          <p:cNvSpPr txBox="1"/>
          <p:nvPr/>
        </p:nvSpPr>
        <p:spPr>
          <a:xfrm>
            <a:off x="9070032" y="1881348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3.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氢气消耗量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8DE5A0-FA73-7BF0-DC44-2FFB13902D2D}"/>
              </a:ext>
            </a:extLst>
          </p:cNvPr>
          <p:cNvSpPr txBox="1"/>
          <p:nvPr/>
        </p:nvSpPr>
        <p:spPr>
          <a:xfrm>
            <a:off x="2156139" y="431058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4.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电堆功率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4FCACF4-56C8-7205-0EC5-CF3B331BF466}"/>
              </a:ext>
            </a:extLst>
          </p:cNvPr>
          <p:cNvSpPr txBox="1"/>
          <p:nvPr/>
        </p:nvSpPr>
        <p:spPr>
          <a:xfrm>
            <a:off x="5638800" y="431586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5.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氧计量比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41A3A3-593A-D64A-03BB-532016510681}"/>
              </a:ext>
            </a:extLst>
          </p:cNvPr>
          <p:cNvSpPr txBox="1"/>
          <p:nvPr/>
        </p:nvSpPr>
        <p:spPr>
          <a:xfrm>
            <a:off x="9070032" y="431586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6.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温度</a:t>
            </a:r>
          </a:p>
        </p:txBody>
      </p:sp>
    </p:spTree>
    <p:extLst>
      <p:ext uri="{BB962C8B-B14F-4D97-AF65-F5344CB8AC3E}">
        <p14:creationId xmlns:p14="http://schemas.microsoft.com/office/powerpoint/2010/main" val="692628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2F085-0114-192D-8BE9-A547AB922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1AEBCC53-C73A-7F27-8349-B1166F8EC4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34" y="1411388"/>
            <a:ext cx="10634280" cy="5025600"/>
          </a:xfrm>
          <a:prstGeom prst="rect">
            <a:avLst/>
          </a:prstGeom>
        </p:spPr>
      </p:pic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E9595A2-FF34-57E3-9F20-011BDEC1A78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仿真结果</a:t>
            </a:r>
            <a:r>
              <a:rPr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3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6791535-2FFE-30A5-6B70-815780D73DD9}"/>
              </a:ext>
            </a:extLst>
          </p:cNvPr>
          <p:cNvSpPr txBox="1"/>
          <p:nvPr/>
        </p:nvSpPr>
        <p:spPr>
          <a:xfrm>
            <a:off x="477722" y="957028"/>
            <a:ext cx="103708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恒氧分压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扫描（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0.1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0.2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0.3 A/cm</a:t>
            </a:r>
            <a:r>
              <a:rPr lang="en-US" altLang="zh-CN" sz="1400" b="1" baseline="30000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 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）：维持氧分压需要更高供气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2D43B7-FDD7-DE7F-E7E7-BB002D244A79}"/>
              </a:ext>
            </a:extLst>
          </p:cNvPr>
          <p:cNvSpPr txBox="1"/>
          <p:nvPr/>
        </p:nvSpPr>
        <p:spPr>
          <a:xfrm>
            <a:off x="2207568" y="1947996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1.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260BA2-6F83-E971-ED75-4F083A21F2EA}"/>
              </a:ext>
            </a:extLst>
          </p:cNvPr>
          <p:cNvSpPr txBox="1"/>
          <p:nvPr/>
        </p:nvSpPr>
        <p:spPr>
          <a:xfrm>
            <a:off x="5638800" y="1844824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2.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阴极入口氧分压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7208A5-C5B5-2A88-463F-5EDE9B1401D5}"/>
              </a:ext>
            </a:extLst>
          </p:cNvPr>
          <p:cNvSpPr txBox="1"/>
          <p:nvPr/>
        </p:nvSpPr>
        <p:spPr>
          <a:xfrm>
            <a:off x="9070032" y="1881348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3.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氧计量比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A6F071-81AF-A59A-1FAD-CF3C6F69FF4B}"/>
              </a:ext>
            </a:extLst>
          </p:cNvPr>
          <p:cNvSpPr txBox="1"/>
          <p:nvPr/>
        </p:nvSpPr>
        <p:spPr>
          <a:xfrm>
            <a:off x="2156139" y="431058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4.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空压机流量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AF24CA-7E6B-A510-956F-238C2B2C2A7C}"/>
              </a:ext>
            </a:extLst>
          </p:cNvPr>
          <p:cNvSpPr txBox="1"/>
          <p:nvPr/>
        </p:nvSpPr>
        <p:spPr>
          <a:xfrm>
            <a:off x="5638800" y="431586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5.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阴极入口水蒸气分压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1994F6-AE87-3172-23C9-A8309291CDA9}"/>
              </a:ext>
            </a:extLst>
          </p:cNvPr>
          <p:cNvSpPr txBox="1"/>
          <p:nvPr/>
        </p:nvSpPr>
        <p:spPr>
          <a:xfrm>
            <a:off x="9070032" y="431586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6.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温度</a:t>
            </a:r>
          </a:p>
        </p:txBody>
      </p:sp>
    </p:spTree>
    <p:extLst>
      <p:ext uri="{BB962C8B-B14F-4D97-AF65-F5344CB8AC3E}">
        <p14:creationId xmlns:p14="http://schemas.microsoft.com/office/powerpoint/2010/main" val="914471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VI标准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152A8C"/>
      </a:accent1>
      <a:accent2>
        <a:srgbClr val="2796D4"/>
      </a:accent2>
      <a:accent3>
        <a:srgbClr val="EDEDED"/>
      </a:accent3>
      <a:accent4>
        <a:srgbClr val="B10011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默认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36000" tIns="36000" rIns="36000" bIns="36000" rtlCol="0">
        <a:noAutofit/>
      </a:bodyPr>
      <a:lstStyle>
        <a:defPPr algn="l">
          <a:spcBef>
            <a:spcPts val="600"/>
          </a:spcBef>
          <a:defRPr dirty="0" err="1" smtClean="0">
            <a:solidFill>
              <a:srgbClr val="003B90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</TotalTime>
  <Words>517</Words>
  <Application>Microsoft Office PowerPoint</Application>
  <PresentationFormat>宽屏</PresentationFormat>
  <Paragraphs>54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一汽解放PPT模板</dc:title>
  <dc:creator>一汽解放</dc:creator>
  <cp:lastModifiedBy>俊樑 吴</cp:lastModifiedBy>
  <cp:revision>998</cp:revision>
  <cp:lastPrinted>2023-05-19T05:02:00Z</cp:lastPrinted>
  <dcterms:created xsi:type="dcterms:W3CDTF">2015-12-28T03:19:00Z</dcterms:created>
  <dcterms:modified xsi:type="dcterms:W3CDTF">2026-06-06T14:32:46Z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BD4BD74D07494004974F27AABDF40CFE_13</vt:lpwstr>
  </property>
  <property fmtid="{D5CDD505-2E9C-101B-9397-08002B2CF9AE}" pid="3" name="KSOProductBuildVer">
    <vt:lpwstr>2052-12.1.0.25865</vt:lpwstr>
  </property>
</Properties>
</file>